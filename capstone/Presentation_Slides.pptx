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iMiXR4jyTfZcik09ajyOIqsiFL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31520" y="1097280"/>
            <a:ext cx="10728655" cy="4663440"/>
          </a:xfrm>
          <a:prstGeom prst="rect">
            <a:avLst/>
          </a:prstGeom>
          <a:solidFill>
            <a:srgbClr val="18202F"/>
          </a:solidFill>
          <a:ln cap="flat" cmpd="sng" w="19050">
            <a:solidFill>
              <a:srgbClr val="2E3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731520" y="1097280"/>
            <a:ext cx="137160" cy="4663440"/>
          </a:xfrm>
          <a:prstGeom prst="rect">
            <a:avLst/>
          </a:prstGeom>
          <a:solidFill>
            <a:srgbClr val="F43F5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280160" y="1554480"/>
            <a:ext cx="96012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SYSTEM DESIGN CAPSTONE PROJECT  |  PRODUCTION ARCHITECTURE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BookMyShow Platform System Design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End-to-End Low-Level Design (OOP &amp; SOLID) and Scalable Distributed Architecture (HLD)</a:t>
            </a:r>
            <a:endParaRPr/>
          </a:p>
          <a:p>
            <a:pPr indent="0" lvl="0" marL="0" marR="0" rtl="0" algn="l">
              <a:spcBef>
                <a:spcPts val="2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CORE DELIVERABLES:  LLD Domain Models  •  Distributed HLD  •  End-to-End Sequence  •  Failure Matrix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3F5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rPr>
              <a:t>CHALLENGES &amp; SCOPE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Problem Statement &amp; Functional Requirements</a:t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E3B5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731520" y="6492240"/>
            <a:ext cx="1072865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BookMyShow Capstone Architecture Presentation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731520" y="1417320"/>
            <a:ext cx="5212080" cy="4754880"/>
          </a:xfrm>
          <a:prstGeom prst="roundRect">
            <a:avLst>
              <a:gd fmla="val 4000" name="adj"/>
            </a:avLst>
          </a:prstGeom>
          <a:solidFill>
            <a:srgbClr val="18202F"/>
          </a:solidFill>
          <a:ln cap="flat" cmpd="sng" w="15225">
            <a:solidFill>
              <a:srgbClr val="2E3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731520" y="1417320"/>
            <a:ext cx="5212080" cy="36576"/>
          </a:xfrm>
          <a:prstGeom prst="rect">
            <a:avLst/>
          </a:prstGeom>
          <a:solidFill>
            <a:srgbClr val="F43F5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987552" y="1600200"/>
            <a:ext cx="4700016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rPr>
              <a:t>REAL-WORLD PROBLEM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Concurrency Problem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Massive Flash Crowds: Blockbuster ticket drops create 100,000+ concurrent requests competing for the exact same seats.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Zero Double-Booking Mandate: Strong consistency is non-negotiable; two users must never be issued the same seat.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High Read-to-Write Ratio (~100:1): Heavy browsing of movie schedules, theaters, and real-time seat availability.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Complex Multi-Stage Checkout: Coordinating seat locks, concession add-ons, wallet deductions, and bank settlements.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External Gateway Fragility: Reliance on third-party payment gateways (Razorpay, UPI) requiring fault isolation.</a:t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6217920" y="1417320"/>
            <a:ext cx="5212080" cy="4754880"/>
          </a:xfrm>
          <a:prstGeom prst="roundRect">
            <a:avLst>
              <a:gd fmla="val 4000" name="adj"/>
            </a:avLst>
          </a:prstGeom>
          <a:solidFill>
            <a:srgbClr val="18202F"/>
          </a:solidFill>
          <a:ln cap="flat" cmpd="sng" w="15225">
            <a:solidFill>
              <a:srgbClr val="2E3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6217920" y="1417320"/>
            <a:ext cx="521208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6473952" y="1600200"/>
            <a:ext cx="4700016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FUNCTIONAL GOALS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Core Functional Scope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Movie &amp; Cinema Discovery: Search shows by city, date, format (2D/3D/IMAX), and geospatial radius query.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Live Seat Map Status: Real-time 2D layout representation with live seat availability statuses.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Temporary Distributed Seat Locking: Lock selected seats atomically for 8 minutes with countdown TTL.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Concession Customization: Decorate snacks dynamically with toppings and sizes alongside tickets.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Multi-Gateway Payment Orchestration: Idempotent checkout supporting cards, UPI, and digital wallet balance.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Asynchronous Ticket Delivery: Digital QR-code ticket dispatch via decoupled email and SMS workers.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TARGET SLOS &amp; INVARIANTS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Non-Functional Requirements &amp; Key Metrics</a:t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E3B5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731520" y="6492240"/>
            <a:ext cx="1072865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BookMyShow Capstone Architecture Presentation</a:t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731520" y="1417320"/>
            <a:ext cx="2514600" cy="1143000"/>
          </a:xfrm>
          <a:prstGeom prst="roundRect">
            <a:avLst>
              <a:gd fmla="val 4000" name="adj"/>
            </a:avLst>
          </a:prstGeom>
          <a:solidFill>
            <a:srgbClr val="121926"/>
          </a:solidFill>
          <a:ln cap="flat" cmpd="sng" w="12700">
            <a:solidFill>
              <a:srgbClr val="2E3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896112" y="1527048"/>
            <a:ext cx="218541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&lt; 2.0s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Booking Latency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99% completed (p99)</a:t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3456432" y="1417320"/>
            <a:ext cx="2514600" cy="1143000"/>
          </a:xfrm>
          <a:prstGeom prst="roundRect">
            <a:avLst>
              <a:gd fmla="val 4000" name="adj"/>
            </a:avLst>
          </a:prstGeom>
          <a:solidFill>
            <a:srgbClr val="121926"/>
          </a:solidFill>
          <a:ln cap="flat" cmpd="sng" w="12700">
            <a:solidFill>
              <a:srgbClr val="2E3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3621024" y="1527048"/>
            <a:ext cx="218541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&lt; 200ms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Catalog Latency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95% queries (p95)</a:t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6181344" y="1417320"/>
            <a:ext cx="2514600" cy="1143000"/>
          </a:xfrm>
          <a:prstGeom prst="roundRect">
            <a:avLst>
              <a:gd fmla="val 4000" name="adj"/>
            </a:avLst>
          </a:prstGeom>
          <a:solidFill>
            <a:srgbClr val="121926"/>
          </a:solidFill>
          <a:ln cap="flat" cmpd="sng" w="12700">
            <a:solidFill>
              <a:srgbClr val="2E3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6345936" y="1527048"/>
            <a:ext cx="218541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99.95%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Platform Availability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Monthly uptime target</a:t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8906256" y="1417320"/>
            <a:ext cx="2542032" cy="1143000"/>
          </a:xfrm>
          <a:prstGeom prst="roundRect">
            <a:avLst>
              <a:gd fmla="val 4000" name="adj"/>
            </a:avLst>
          </a:prstGeom>
          <a:solidFill>
            <a:srgbClr val="121926"/>
          </a:solidFill>
          <a:ln cap="flat" cmpd="sng" w="12700">
            <a:solidFill>
              <a:srgbClr val="2E3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9070848" y="1527048"/>
            <a:ext cx="221284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Double Bookings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Strict CP consistency</a:t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731520" y="2788920"/>
            <a:ext cx="5212080" cy="3429000"/>
          </a:xfrm>
          <a:prstGeom prst="roundRect">
            <a:avLst>
              <a:gd fmla="val 4000" name="adj"/>
            </a:avLst>
          </a:prstGeom>
          <a:solidFill>
            <a:srgbClr val="18202F"/>
          </a:solidFill>
          <a:ln cap="flat" cmpd="sng" w="15225">
            <a:solidFill>
              <a:srgbClr val="2E3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731520" y="2788920"/>
            <a:ext cx="5212080" cy="36576"/>
          </a:xfrm>
          <a:prstGeom prst="rect">
            <a:avLst/>
          </a:prstGeom>
          <a:solidFill>
            <a:srgbClr val="818C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987550" y="2971800"/>
            <a:ext cx="4749000" cy="26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18CF8"/>
                </a:solidFill>
                <a:latin typeface="Arial"/>
                <a:ea typeface="Arial"/>
                <a:cs typeface="Arial"/>
                <a:sym typeface="Arial"/>
              </a:rPr>
              <a:t>ARCHITECTURAL RESILIENCE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Reliability &amp; Concurrency Guardrails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3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Atomic In-Memory Locking: Sub-10ms seat holds using Redis Lua scripts eliminate relational database row lock contention.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Two-Tier Caching Strategy: 300s TTL for static movie catalog and 10s short TTL for active auditorium seat maps.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Idempotency Defense: Client-generated Idempotency-Key headers prevent duplicate charges during mobile retry taps.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Automated TTL Eviction: 8-minute countdown timer releases abandoned seat holds cleanly back to AVAILABLE.</a:t>
            </a:r>
            <a:endParaRPr sz="1500"/>
          </a:p>
        </p:txBody>
      </p:sp>
      <p:sp>
        <p:nvSpPr>
          <p:cNvPr id="123" name="Google Shape;123;p3"/>
          <p:cNvSpPr/>
          <p:nvPr/>
        </p:nvSpPr>
        <p:spPr>
          <a:xfrm>
            <a:off x="6217920" y="2788920"/>
            <a:ext cx="5212080" cy="3429000"/>
          </a:xfrm>
          <a:prstGeom prst="roundRect">
            <a:avLst>
              <a:gd fmla="val 4000" name="adj"/>
            </a:avLst>
          </a:prstGeom>
          <a:solidFill>
            <a:srgbClr val="18202F"/>
          </a:solidFill>
          <a:ln cap="flat" cmpd="sng" w="15225">
            <a:solidFill>
              <a:srgbClr val="2E3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6217920" y="2788920"/>
            <a:ext cx="5212080" cy="36576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6473952" y="2971800"/>
            <a:ext cx="4700100" cy="28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FAULT ISOLATION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Fault Tolerance &amp; Isolation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Circuit Breakers: Resilience4j isolates failing payment gateways, returning fast fallbacks rather than exhausting threads.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Asynchronous Decoupling: Kafka event stream ensures notification delivery outages never block user ticket confirmation.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Dead-Letter Queues (DLQ): Poison-pill messages route to isolated DLQ topics after 3 exponential backoff attempts.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City-Based Sharding: Localized database partitions eliminate distributed 2-phase commit overhead.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18C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18CF8"/>
                </a:solidFill>
                <a:latin typeface="Arial"/>
                <a:ea typeface="Arial"/>
                <a:cs typeface="Arial"/>
                <a:sym typeface="Arial"/>
              </a:rPr>
              <a:t>LOW-LEVEL DESIGN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Core Domain Entities &amp; Structural Relationships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E3B5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731520" y="6492240"/>
            <a:ext cx="1072865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BookMyShow Capstone Architecture Presentation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731520" y="1417320"/>
            <a:ext cx="5212080" cy="4754880"/>
          </a:xfrm>
          <a:prstGeom prst="roundRect">
            <a:avLst>
              <a:gd fmla="val 4000" name="adj"/>
            </a:avLst>
          </a:prstGeom>
          <a:solidFill>
            <a:srgbClr val="18202F"/>
          </a:solidFill>
          <a:ln cap="flat" cmpd="sng" w="15225">
            <a:solidFill>
              <a:srgbClr val="2E3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731520" y="1417320"/>
            <a:ext cx="5212080" cy="36576"/>
          </a:xfrm>
          <a:prstGeom prst="rect">
            <a:avLst/>
          </a:prstGeom>
          <a:solidFill>
            <a:srgbClr val="818C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987552" y="1600200"/>
            <a:ext cx="4700100" cy="44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18CF8"/>
                </a:solidFill>
                <a:latin typeface="Arial"/>
                <a:ea typeface="Arial"/>
                <a:cs typeface="Arial"/>
                <a:sym typeface="Arial"/>
              </a:rPr>
              <a:t>ENTITY DEFINITIONS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Core Domain Entities (LLD)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Movie: Film metadata (title, durationMinutes, genre, language, certificateRating).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Theater: Physical cinema venue with name, city, and composite collection of Screens.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Screen &amp; Row: Structural seating layout implementing the SeatComponent composite pattern.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Seat: Physical seat model tracking row, number, tier, price modifier, and current SeatState.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Show: Scheduled screening linking Movie, Screen, and start/end timestamps.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User: Customer account maintaining profile credentials and digital wallet balance.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Booking: Aggregate root managing Show, reserved Seats, Tickets, Snacks, and Payment.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Payment: Financial transaction tracking gateway reference, amount, and settlement status.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Snack: Concessions model dynamically extensible via SnackDecorator.</a:t>
            </a:r>
            <a:endParaRPr sz="1500"/>
          </a:p>
        </p:txBody>
      </p:sp>
      <p:sp>
        <p:nvSpPr>
          <p:cNvPr id="138" name="Google Shape;138;p4"/>
          <p:cNvSpPr/>
          <p:nvPr/>
        </p:nvSpPr>
        <p:spPr>
          <a:xfrm>
            <a:off x="6217920" y="1417320"/>
            <a:ext cx="5212080" cy="4754880"/>
          </a:xfrm>
          <a:prstGeom prst="roundRect">
            <a:avLst>
              <a:gd fmla="val 4000" name="adj"/>
            </a:avLst>
          </a:prstGeom>
          <a:solidFill>
            <a:srgbClr val="18202F"/>
          </a:solidFill>
          <a:ln cap="flat" cmpd="sng" w="15225">
            <a:solidFill>
              <a:srgbClr val="2E3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6217920" y="1417320"/>
            <a:ext cx="521208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6473950" y="1600200"/>
            <a:ext cx="4700100" cy="39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RELATIONSHIP INVARIANTS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Cardinalities &amp; Structural Contracts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Theater 1 ── * Screen (Composition): A theater physically houses multiple screens.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Screen 1 ── * Row 1 ── * Seat (Composite Tree): Traversed uniformly via SeatComponent.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Movie 1 ── * Show (Association): A movie is scheduled across multiple dates and screens.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Screen 1 ── * Show (Association): A screen hosts sequential shows chronologically.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User 1 ── * Booking (Association): A user places zero or more bookings over time.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Booking 1 ── * Seat / Ticket (Composition): A confirmed booking reserves seats and generates tickets.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Booking 1 ── * ISnack (Aggregation): A booking aggregates optional snack items.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Booking 1 ── 1 Payment (Association): Exactly one payment settles a confirmed booking.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GOF DESIGN PATTERNS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 Low-Level Design Patterns Summary (11 Patterns)</a:t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E3B5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731520" y="6492240"/>
            <a:ext cx="1072865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BookMyShow Capstone Architecture Presentation</a:t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731520" y="1417320"/>
            <a:ext cx="3383280" cy="4754880"/>
          </a:xfrm>
          <a:prstGeom prst="roundRect">
            <a:avLst>
              <a:gd fmla="val 4000" name="adj"/>
            </a:avLst>
          </a:prstGeom>
          <a:solidFill>
            <a:srgbClr val="18202F"/>
          </a:solidFill>
          <a:ln cap="flat" cmpd="sng" w="15225">
            <a:solidFill>
              <a:srgbClr val="2E3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731520" y="1417320"/>
            <a:ext cx="338328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987552" y="1600200"/>
            <a:ext cx="2871300" cy="29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OBJECT CREATION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Creational Patterns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Simple Factory (TicketFactory): Polymorphically instantiates StandardTicket, PremiumTicket, or IMAXTicket based on tier.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Builder (BookingBuilder): Incrementally constructs complex Booking aggregates with invariant validation.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Singleton (Logger): Provides a single thread-safe instance for centralized system audit logging.</a:t>
            </a:r>
            <a:endParaRPr sz="1500"/>
          </a:p>
        </p:txBody>
      </p:sp>
      <p:sp>
        <p:nvSpPr>
          <p:cNvPr id="153" name="Google Shape;153;p5"/>
          <p:cNvSpPr/>
          <p:nvPr/>
        </p:nvSpPr>
        <p:spPr>
          <a:xfrm>
            <a:off x="4389120" y="1417320"/>
            <a:ext cx="3383280" cy="4754880"/>
          </a:xfrm>
          <a:prstGeom prst="roundRect">
            <a:avLst>
              <a:gd fmla="val 4000" name="adj"/>
            </a:avLst>
          </a:prstGeom>
          <a:solidFill>
            <a:srgbClr val="18202F"/>
          </a:solidFill>
          <a:ln cap="flat" cmpd="sng" w="15225">
            <a:solidFill>
              <a:srgbClr val="2E3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4389120" y="1417320"/>
            <a:ext cx="3383280" cy="36576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4645152" y="1600200"/>
            <a:ext cx="2871300" cy="24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OBJECT STRUCTURE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Structural Patterns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Decorator (SnackDecorator): Dynamically layers add-ons (ExtraButter) and size upgrades (LargeSize) onto BaseSnack at runtime.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Composite (SeatComponent): Treats Screen, Row, and Seat uniformly, allowing recursive seat counts and contiguous block searches.</a:t>
            </a:r>
            <a:endParaRPr sz="1500"/>
          </a:p>
        </p:txBody>
      </p:sp>
      <p:sp>
        <p:nvSpPr>
          <p:cNvPr id="156" name="Google Shape;156;p5"/>
          <p:cNvSpPr/>
          <p:nvPr/>
        </p:nvSpPr>
        <p:spPr>
          <a:xfrm>
            <a:off x="8046720" y="1417320"/>
            <a:ext cx="3383280" cy="4754880"/>
          </a:xfrm>
          <a:prstGeom prst="roundRect">
            <a:avLst>
              <a:gd fmla="val 4000" name="adj"/>
            </a:avLst>
          </a:prstGeom>
          <a:solidFill>
            <a:srgbClr val="18202F"/>
          </a:solidFill>
          <a:ln cap="flat" cmpd="sng" w="15225">
            <a:solidFill>
              <a:srgbClr val="2E3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8046720" y="1417320"/>
            <a:ext cx="3383280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8302752" y="1600200"/>
            <a:ext cx="2871300" cy="45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BEHAVIOR &amp; WORKFLOW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Behavioral Patterns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Strategy: Interchangeable PricingStrategy (Surge, Festival) and SeatAllocationStrategy.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Observer: BookingSubject broadcasts events to Email, SMS, and Push listeners.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Command: BookingInvoker executes commands with undo() for LIFO rollbacks.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State: SeatState manages AVAILABLE -&gt; HELD -&gt; BOOKED lifecycle transitions.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Template Method: BookingWorkflow standardizes the 5-step checkout skeleton.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Chain of Responsibility: PaymentHandler sequences Coupon -&gt; Wallet -&gt; Tax -&gt; Gateway.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3F5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rPr>
              <a:t>SYSTEM TOPOLOGY &amp; TIERS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5. Distributed System Architecture Overview</a:t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E3B5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731520" y="6492240"/>
            <a:ext cx="1072865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BookMyShow Capstone Architecture Presentation</a:t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731520" y="1417320"/>
            <a:ext cx="3383280" cy="4754880"/>
          </a:xfrm>
          <a:prstGeom prst="roundRect">
            <a:avLst>
              <a:gd fmla="val 4000" name="adj"/>
            </a:avLst>
          </a:prstGeom>
          <a:solidFill>
            <a:srgbClr val="18202F"/>
          </a:solidFill>
          <a:ln cap="flat" cmpd="sng" w="15225">
            <a:solidFill>
              <a:srgbClr val="2E3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731520" y="1417320"/>
            <a:ext cx="3383280" cy="36576"/>
          </a:xfrm>
          <a:prstGeom prst="rect">
            <a:avLst/>
          </a:prstGeom>
          <a:solidFill>
            <a:srgbClr val="F43F5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987552" y="1600200"/>
            <a:ext cx="2871300" cy="38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rPr>
              <a:t>INGRESS TIER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Edge, Ingress &amp; Gateway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Global CDN: Cloudflare caches static assets (movie posters, trailers, seat maps) close to edge users.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Application Load Balancer: Dual-redundant ALBs handle SSL/TLS 1.3 termination and distribute traffic across gateway instances.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API Gateway Tier: Enforces JWT authentication, Token Bucket rate limiting, and Idempotency-Key validation.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Request Routing: Directs public REST calls to internal microservices over high-speed HTTP/2.</a:t>
            </a:r>
            <a:endParaRPr sz="1500"/>
          </a:p>
        </p:txBody>
      </p:sp>
      <p:sp>
        <p:nvSpPr>
          <p:cNvPr id="171" name="Google Shape;171;p6"/>
          <p:cNvSpPr/>
          <p:nvPr/>
        </p:nvSpPr>
        <p:spPr>
          <a:xfrm>
            <a:off x="4389120" y="1417320"/>
            <a:ext cx="3383280" cy="4754880"/>
          </a:xfrm>
          <a:prstGeom prst="roundRect">
            <a:avLst>
              <a:gd fmla="val 4000" name="adj"/>
            </a:avLst>
          </a:prstGeom>
          <a:solidFill>
            <a:srgbClr val="18202F"/>
          </a:solidFill>
          <a:ln cap="flat" cmpd="sng" w="15225">
            <a:solidFill>
              <a:srgbClr val="2E3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4389120" y="1417320"/>
            <a:ext cx="338328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4645152" y="1600200"/>
            <a:ext cx="2871300" cy="43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SERVICE TIER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Stateless Microservices Tier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BookingService: Orchestrates seat allocation, Redis distributed locks, and checkout workflows.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PaymentService: Integrates third-party PSPs (Razorpay/Stripe) wrapped with Resilience4j circuit breakers.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SearchService: Executes full-text search and geospatial radius queries via Elasticsearch.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CatalogService: Serves read-heavy movie schedules and theater layout configurations.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Auto-Scaling: Pods scale horizontally on Kubernetes (EKS) based on CPU and request velocity.</a:t>
            </a:r>
            <a:endParaRPr sz="1500"/>
          </a:p>
        </p:txBody>
      </p:sp>
      <p:sp>
        <p:nvSpPr>
          <p:cNvPr id="174" name="Google Shape;174;p6"/>
          <p:cNvSpPr/>
          <p:nvPr/>
        </p:nvSpPr>
        <p:spPr>
          <a:xfrm>
            <a:off x="8046720" y="1417320"/>
            <a:ext cx="3383280" cy="4754880"/>
          </a:xfrm>
          <a:prstGeom prst="roundRect">
            <a:avLst>
              <a:gd fmla="val 4000" name="adj"/>
            </a:avLst>
          </a:prstGeom>
          <a:solidFill>
            <a:srgbClr val="18202F"/>
          </a:solidFill>
          <a:ln cap="flat" cmpd="sng" w="15225">
            <a:solidFill>
              <a:srgbClr val="2E3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8046720" y="1417320"/>
            <a:ext cx="3383280" cy="36576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8302752" y="1600200"/>
            <a:ext cx="2871300" cy="45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STORAGE &amp; BUS TIER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Storage &amp; Event Messaging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In-Memory Tier (Redis Cluster): Manages atomic seat locks (SETNX with 8-min TTL) and live seat layout caches.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Persistent Data Tier: PostgreSQL sharded horizontally by city_id to guarantee local ACID transactions.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Search Cluster: Elasticsearch synchronized via change-data-capture (CDC) pipeline.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Event Bus (Apache Kafka): Topic booking_events decouples asynchronous ticket generation from checkout.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Notification Workers: Multi-channel consumer pools dispatch QR-coded tickets with DLQ fallbacks.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MICROSERVICES TOPOLOGY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6. Key Microservices &amp; Communication Protocols</a:t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E3B5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 txBox="1"/>
          <p:nvPr/>
        </p:nvSpPr>
        <p:spPr>
          <a:xfrm>
            <a:off x="731520" y="6492240"/>
            <a:ext cx="1072865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BookMyShow Capstone Architecture Presentation</a:t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731520" y="1417320"/>
            <a:ext cx="5212080" cy="2286000"/>
          </a:xfrm>
          <a:prstGeom prst="roundRect">
            <a:avLst>
              <a:gd fmla="val 4000" name="adj"/>
            </a:avLst>
          </a:prstGeom>
          <a:solidFill>
            <a:srgbClr val="18202F"/>
          </a:solidFill>
          <a:ln cap="flat" cmpd="sng" w="15225">
            <a:solidFill>
              <a:srgbClr val="2E3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731520" y="1417320"/>
            <a:ext cx="521208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987552" y="1600200"/>
            <a:ext cx="4700016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SEAT &amp; CHECKOUT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BookingService (Core Orchestrator)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Role: Manages seat holds, checkout lifecycle, and final booking confirmation.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Concurrency: Executes atomic Redis Lua scripts to secure temporary locks.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Protocols: REST (Client-facing) | gRPC (Internal to Payment) | Kafka (Event Pub).</a:t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6217920" y="1417320"/>
            <a:ext cx="5212080" cy="2286000"/>
          </a:xfrm>
          <a:prstGeom prst="roundRect">
            <a:avLst>
              <a:gd fmla="val 4000" name="adj"/>
            </a:avLst>
          </a:prstGeom>
          <a:solidFill>
            <a:srgbClr val="18202F"/>
          </a:solidFill>
          <a:ln cap="flat" cmpd="sng" w="15225">
            <a:solidFill>
              <a:srgbClr val="2E3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6217920" y="1417320"/>
            <a:ext cx="5212080" cy="36576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 txBox="1"/>
          <p:nvPr/>
        </p:nvSpPr>
        <p:spPr>
          <a:xfrm>
            <a:off x="6473952" y="1600200"/>
            <a:ext cx="4700016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PAYMENT &amp; PSP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PaymentService (Transaction Gateway)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Role: Coordinates idempotent payments, PSP gateway webhooks, and refunds.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Resilience: Outbound PSP calls protected by Resilience4j Circuit Breakers.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Protocols: gRPC (Internal from Booking) | HTTPS (External Razorpay / Stripe).</a:t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731520" y="3886200"/>
            <a:ext cx="5212080" cy="2286000"/>
          </a:xfrm>
          <a:prstGeom prst="roundRect">
            <a:avLst>
              <a:gd fmla="val 4000" name="adj"/>
            </a:avLst>
          </a:prstGeom>
          <a:solidFill>
            <a:srgbClr val="18202F"/>
          </a:solidFill>
          <a:ln cap="flat" cmpd="sng" w="15225">
            <a:solidFill>
              <a:srgbClr val="2E3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731520" y="3886200"/>
            <a:ext cx="5212080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987552" y="4069080"/>
            <a:ext cx="4700016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SEARCH &amp; GEO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SearchService (Discovery Engine)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Role: High-throughput faceted search by language, genre, format, and geo-radius.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Storage: Backed by Elasticsearch cluster synchronized via DB CDC pipeline.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Protocols: REST / JSON over HTTP/2 for sub-millisecond query evaluation.</a:t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6217920" y="3886200"/>
            <a:ext cx="5212080" cy="2286000"/>
          </a:xfrm>
          <a:prstGeom prst="roundRect">
            <a:avLst>
              <a:gd fmla="val 4000" name="adj"/>
            </a:avLst>
          </a:prstGeom>
          <a:solidFill>
            <a:srgbClr val="18202F"/>
          </a:solidFill>
          <a:ln cap="flat" cmpd="sng" w="15225">
            <a:solidFill>
              <a:srgbClr val="2E3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6217920" y="3886200"/>
            <a:ext cx="5212080" cy="36576"/>
          </a:xfrm>
          <a:prstGeom prst="rect">
            <a:avLst/>
          </a:prstGeom>
          <a:solidFill>
            <a:srgbClr val="818C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6473952" y="4069080"/>
            <a:ext cx="4700016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18CF8"/>
                </a:solidFill>
                <a:latin typeface="Arial"/>
                <a:ea typeface="Arial"/>
                <a:cs typeface="Arial"/>
                <a:sym typeface="Arial"/>
              </a:rPr>
              <a:t>EVENT WORKERS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NotificationService (Async Fulfillment)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Role: Dispatches QR-coded tickets, SMS entry codes, and mobile push reminders.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Reliability: Exponential backoff retries with Dead-Letter Queue (DLQ) isolation.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Protocols: Kafka Consumer Group (Topic: booking_events) with manual commits.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18C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18CF8"/>
                </a:solidFill>
                <a:latin typeface="Arial"/>
                <a:ea typeface="Arial"/>
                <a:cs typeface="Arial"/>
                <a:sym typeface="Arial"/>
              </a:rPr>
              <a:t>INTEGRATED SYSTEM FLOW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7. End-to-End Booking Lifecycle Sequence</a:t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E3B5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 txBox="1"/>
          <p:nvPr/>
        </p:nvSpPr>
        <p:spPr>
          <a:xfrm>
            <a:off x="731520" y="6492240"/>
            <a:ext cx="1072865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BookMyShow Capstone Architecture Presentation</a:t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731520" y="1417320"/>
            <a:ext cx="5212080" cy="4754880"/>
          </a:xfrm>
          <a:prstGeom prst="roundRect">
            <a:avLst>
              <a:gd fmla="val 4000" name="adj"/>
            </a:avLst>
          </a:prstGeom>
          <a:solidFill>
            <a:srgbClr val="18202F"/>
          </a:solidFill>
          <a:ln cap="flat" cmpd="sng" w="15225">
            <a:solidFill>
              <a:srgbClr val="2E3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731520" y="1417320"/>
            <a:ext cx="5212080" cy="36576"/>
          </a:xfrm>
          <a:prstGeom prst="rect">
            <a:avLst/>
          </a:prstGeom>
          <a:solidFill>
            <a:srgbClr val="818C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 txBox="1"/>
          <p:nvPr/>
        </p:nvSpPr>
        <p:spPr>
          <a:xfrm>
            <a:off x="987552" y="1600200"/>
            <a:ext cx="4700016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18CF8"/>
                </a:solidFill>
                <a:latin typeface="Arial"/>
                <a:ea typeface="Arial"/>
                <a:cs typeface="Arial"/>
                <a:sym typeface="Arial"/>
              </a:rPr>
              <a:t>6-PHASE BOOKING LIFECYCLE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Primary Execution Flow (Happy Path)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Phase 1 (Discovery &amp; Selection): User browses showtimes; UI queries SearchService (geo-radius) and fetches real-time seat layout.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Phase 2 (Atomic Seat Hold): User submits seat choice; BookingService executes atomic Redis Lua script (SETNX with 480s TTL) shifting seats to HELD state.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Phase 3 (Concession &amp; Pricing): Snacks decorated via SnackDecorator; pricing compiled through PaymentHandler chain (Coupons, Wallet, Tax).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Phase 4 (Payment Settle): BookingService calls PaymentService via internal gRPC; transaction executed through Circuit Breaker to PSP.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Phase 5 (ACID Persistence): On payment success, single ACID transaction commits order to PostgreSQL city shard (show_seats marked BOOKED).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Phase 6 (Async Fulfillment): BookingConfirmedEvent emitted to Kafka; NotificationService sends QR ticket via Email/SMS; Analytics ingests metrics.</a:t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6217920" y="1417320"/>
            <a:ext cx="5212080" cy="4754880"/>
          </a:xfrm>
          <a:prstGeom prst="roundRect">
            <a:avLst>
              <a:gd fmla="val 4000" name="adj"/>
            </a:avLst>
          </a:prstGeom>
          <a:solidFill>
            <a:srgbClr val="18202F"/>
          </a:solidFill>
          <a:ln cap="flat" cmpd="sng" w="15225">
            <a:solidFill>
              <a:srgbClr val="2E3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6217920" y="1417320"/>
            <a:ext cx="521208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 txBox="1"/>
          <p:nvPr/>
        </p:nvSpPr>
        <p:spPr>
          <a:xfrm>
            <a:off x="6473952" y="1600200"/>
            <a:ext cx="4700016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INVARIANT PRESERVATION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Concurrency &amp; Integrity Defenses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Atomic Lua Script Validation: Verifies that all requested seats are available simultaneously before locking; zero partial seat allocations.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Automatic TTL Eviction: 8-minute Redis lock timeout automatically frees abandoned seats without requiring manual database cleanup.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Idempotent Checkout: Client-supplied Idempotency-Key prevents duplicate bank charges if a user double-taps the checkout button.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Cache Invalidation on Write: Committing booking immediately purges Redis layout cache, ensuring instant seat status refresh for other users.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Decoupled Post-Booking: Email/SMS delivery outages never degrade or block user ticket confirmation on screen.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DATA ARCHITECTURE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8. Scalability, Partitioning &amp; CAP Trade-Offs</a:t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E3B5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731520" y="6492240"/>
            <a:ext cx="1072865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BookMyShow Capstone Architecture Presentation</a:t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731520" y="1417320"/>
            <a:ext cx="5212080" cy="4754880"/>
          </a:xfrm>
          <a:prstGeom prst="roundRect">
            <a:avLst>
              <a:gd fmla="val 4000" name="adj"/>
            </a:avLst>
          </a:prstGeom>
          <a:solidFill>
            <a:srgbClr val="18202F"/>
          </a:solidFill>
          <a:ln cap="flat" cmpd="sng" w="15225">
            <a:solidFill>
              <a:srgbClr val="2E3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731520" y="1417320"/>
            <a:ext cx="5212080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 txBox="1"/>
          <p:nvPr/>
        </p:nvSpPr>
        <p:spPr>
          <a:xfrm>
            <a:off x="987552" y="1600200"/>
            <a:ext cx="4700016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DATABASE SHARDING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City-Based Horizontal Sharding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Locality of Traffic: &gt;99% of ticket browsing and booking occurs strictly within a single metropolitan city.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Sharding Key: PostgreSQL instances sharded horizontally by city_id (e.g., Delhi, Mumbai, Bengaluru).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Zero Cross-Shard Joins: Theaters, screens, shows, seats, and bookings for a transaction reside entirely on the local shard.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Secondary Partitioning: Booking and payment audit tables partitioned by month (created_at) to maintain fast index lookups.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Read Replicas: Asynchronous read replicas handle catalog queries, offloading CPU overhead from write primaries.</a:t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6217920" y="1417320"/>
            <a:ext cx="5212080" cy="4754880"/>
          </a:xfrm>
          <a:prstGeom prst="roundRect">
            <a:avLst>
              <a:gd fmla="val 4000" name="adj"/>
            </a:avLst>
          </a:prstGeom>
          <a:solidFill>
            <a:srgbClr val="18202F"/>
          </a:solidFill>
          <a:ln cap="flat" cmpd="sng" w="15225">
            <a:solidFill>
              <a:srgbClr val="2E3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6217920" y="1417320"/>
            <a:ext cx="5212080" cy="36576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 txBox="1"/>
          <p:nvPr/>
        </p:nvSpPr>
        <p:spPr>
          <a:xfrm>
            <a:off x="6473952" y="1600200"/>
            <a:ext cx="4700016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CAP THEOREM DECISIONS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CAP Theorem Architectural Boundaries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Seat Locking &amp; Booking Subsystem (CP Model):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–  Strict Consistency prioritized over Availability.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–  Under network partitions, seat hold requests fail fast rather than allowing split-brain double bookings.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–  Redis cluster with replication and atomic Lua validation guarantees single-seat ownership.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Search &amp; Catalog Browsing Subsystem (AP Model):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–  High Availability prioritized over immediate consistency.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–  Brief replication delays in movie posters or schedule listings are acceptable to ensure 100% browsing uptime.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OPERATIONAL RECOVERY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9. Fault Tolerance &amp; Failure Recovery Handling</a:t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E3B5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 txBox="1"/>
          <p:nvPr/>
        </p:nvSpPr>
        <p:spPr>
          <a:xfrm>
            <a:off x="731520" y="6492240"/>
            <a:ext cx="1072865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BookMyShow Capstone Architecture Presentation</a:t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731520" y="1417320"/>
            <a:ext cx="5212080" cy="2286000"/>
          </a:xfrm>
          <a:prstGeom prst="roundRect">
            <a:avLst>
              <a:gd fmla="val 4000" name="adj"/>
            </a:avLst>
          </a:prstGeom>
          <a:solidFill>
            <a:srgbClr val="18202F"/>
          </a:solidFill>
          <a:ln cap="flat" cmpd="sng" w="15225">
            <a:solidFill>
              <a:srgbClr val="2E3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731520" y="1417320"/>
            <a:ext cx="5212080" cy="36576"/>
          </a:xfrm>
          <a:prstGeom prst="rect">
            <a:avLst/>
          </a:prstGeom>
          <a:solidFill>
            <a:srgbClr val="F43F5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 txBox="1"/>
          <p:nvPr/>
        </p:nvSpPr>
        <p:spPr>
          <a:xfrm>
            <a:off x="987552" y="1600200"/>
            <a:ext cx="4700016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rPr>
              <a:t>TRANSACTION DROP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Scenario 1: Payment Declined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Trigger: PSP returns 402 Declined or card insufficient funds.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Action: BookingService immediately deletes temporary Redis lock keys.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Outcome: Seats return from HELD to AVAILABLE; zero DB rows committed.</a:t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6217920" y="1417320"/>
            <a:ext cx="5212080" cy="2286000"/>
          </a:xfrm>
          <a:prstGeom prst="roundRect">
            <a:avLst>
              <a:gd fmla="val 4000" name="adj"/>
            </a:avLst>
          </a:prstGeom>
          <a:solidFill>
            <a:srgbClr val="18202F"/>
          </a:solidFill>
          <a:ln cap="flat" cmpd="sng" w="15225">
            <a:solidFill>
              <a:srgbClr val="2E3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6217920" y="1417320"/>
            <a:ext cx="5212080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 txBox="1"/>
          <p:nvPr/>
        </p:nvSpPr>
        <p:spPr>
          <a:xfrm>
            <a:off x="6473952" y="1600200"/>
            <a:ext cx="4700016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TIMEOUT EVICTION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Scenario 2: Seat Lock Expired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Trigger: User checkout duration exceeds 8 minutes (Redis TTL elapsed).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Action: Token validation detects missing lock; rejects with 409 Conflict.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Outcome: If money was charged by bank, auto-reversal refund is triggered.</a:t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731520" y="3886200"/>
            <a:ext cx="5212080" cy="2286000"/>
          </a:xfrm>
          <a:prstGeom prst="roundRect">
            <a:avLst>
              <a:gd fmla="val 4000" name="adj"/>
            </a:avLst>
          </a:prstGeom>
          <a:solidFill>
            <a:srgbClr val="18202F"/>
          </a:solidFill>
          <a:ln cap="flat" cmpd="sng" w="15225">
            <a:solidFill>
              <a:srgbClr val="2E3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731520" y="3886200"/>
            <a:ext cx="521208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 txBox="1"/>
          <p:nvPr/>
        </p:nvSpPr>
        <p:spPr>
          <a:xfrm>
            <a:off x="987552" y="4069080"/>
            <a:ext cx="4700016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NODE CRASH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Scenario 3: Worker Pod Crash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Trigger: NotificationService pod crashes mid-execution (OOM / node failure).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Action: Kafka triggers consumer group partition rebalance upon missed heartbeat.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Outcome: Sibling worker resumes from last committed offset; zero messages lost.</a:t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6217920" y="3886200"/>
            <a:ext cx="5212080" cy="2286000"/>
          </a:xfrm>
          <a:prstGeom prst="roundRect">
            <a:avLst>
              <a:gd fmla="val 4000" name="adj"/>
            </a:avLst>
          </a:prstGeom>
          <a:solidFill>
            <a:srgbClr val="18202F"/>
          </a:solidFill>
          <a:ln cap="flat" cmpd="sng" w="15225">
            <a:solidFill>
              <a:srgbClr val="2E3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6217920" y="3886200"/>
            <a:ext cx="5212080" cy="36576"/>
          </a:xfrm>
          <a:prstGeom prst="rect">
            <a:avLst/>
          </a:prstGeom>
          <a:solidFill>
            <a:srgbClr val="818C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 txBox="1"/>
          <p:nvPr/>
        </p:nvSpPr>
        <p:spPr>
          <a:xfrm>
            <a:off x="6473952" y="4069080"/>
            <a:ext cx="4700016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18CF8"/>
                </a:solidFill>
                <a:latin typeface="Arial"/>
                <a:ea typeface="Arial"/>
                <a:cs typeface="Arial"/>
                <a:sym typeface="Arial"/>
              </a:rPr>
              <a:t>GATEWAY OUTAGE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Scenario 4: Delivery Provider Outage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Trigger: Third-party SMS/Email gateway returns 5xx errors.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Action: Worker retries 3x with exponential backoff; moves to DLQ on exhaustion.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Outcome: User ticket remains confirmed; DLQ replay worker redelivers on recovery.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 txBox="1"/>
          <p:nvPr/>
        </p:nvSpPr>
        <p:spPr>
          <a:xfrm>
            <a:off x="731520" y="320040"/>
            <a:ext cx="1072865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OPERATIONS &amp; EXTENSIONS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10. Monitoring, Observability &amp; Future Roadmap</a:t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2E3B5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 txBox="1"/>
          <p:nvPr/>
        </p:nvSpPr>
        <p:spPr>
          <a:xfrm>
            <a:off x="731520" y="6492240"/>
            <a:ext cx="1072865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BookMyShow Capstone Architecture Presentation</a:t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731520" y="1417320"/>
            <a:ext cx="5212080" cy="4754880"/>
          </a:xfrm>
          <a:prstGeom prst="roundRect">
            <a:avLst>
              <a:gd fmla="val 4000" name="adj"/>
            </a:avLst>
          </a:prstGeom>
          <a:solidFill>
            <a:srgbClr val="18202F"/>
          </a:solidFill>
          <a:ln cap="flat" cmpd="sng" w="15225">
            <a:solidFill>
              <a:srgbClr val="2E3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731520" y="1417320"/>
            <a:ext cx="521208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 txBox="1"/>
          <p:nvPr/>
        </p:nvSpPr>
        <p:spPr>
          <a:xfrm>
            <a:off x="987552" y="1600200"/>
            <a:ext cx="4700100" cy="3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TELEMETRY &amp; ALERTING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Observability Stack &amp; Production SLOs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Target Latency SLO: 99% of booking transactions complete in &lt; 2.0s (p99 &lt; 2.0s).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Target Availability SLO: 99.95% platform uptime across all services.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Prometheus Metrics: Tracks RPS, 4xx/5xx error rates, Redis hit ratios, and Kafka lag.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Grafana Dashboards: Real-time visualization of booking velocity and checkout conversion.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OpenTelemetry Distributed Tracing: Injects X-Correlation-ID to profile end-to-end latency.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Automated PagerDuty Alerts: Triggers when p99 latency exceeds 2.5s for 3 consecutive minutes.</a:t>
            </a:r>
            <a:endParaRPr sz="1500"/>
          </a:p>
        </p:txBody>
      </p:sp>
      <p:sp>
        <p:nvSpPr>
          <p:cNvPr id="261" name="Google Shape;261;p11"/>
          <p:cNvSpPr/>
          <p:nvPr/>
        </p:nvSpPr>
        <p:spPr>
          <a:xfrm>
            <a:off x="6217920" y="1417320"/>
            <a:ext cx="5212080" cy="4754880"/>
          </a:xfrm>
          <a:prstGeom prst="roundRect">
            <a:avLst>
              <a:gd fmla="val 4000" name="adj"/>
            </a:avLst>
          </a:prstGeom>
          <a:solidFill>
            <a:srgbClr val="18202F"/>
          </a:solidFill>
          <a:ln cap="flat" cmpd="sng" w="15225">
            <a:solidFill>
              <a:srgbClr val="2E3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6217920" y="1417320"/>
            <a:ext cx="5212080" cy="36576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 txBox="1"/>
          <p:nvPr/>
        </p:nvSpPr>
        <p:spPr>
          <a:xfrm>
            <a:off x="6473952" y="1600200"/>
            <a:ext cx="4700100" cy="27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DEPLOYMENT &amp; ROADMAP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DevOps &amp; Architectural Roadmap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Blue-Green Deployment: Releases deployed to idle Green environment; canary traffic shifted (10% -&gt; 100%) through ALB with &lt; 5s rollback.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Multi-Region Replication: Active-active cross-region read replicas for disaster recovery.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AI Demand Pricing: Dynamic ticket pricing engine evaluating historical demand and seat occupancy.</a:t>
            </a:r>
            <a:endParaRPr sz="15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Personalized Discovery: Machine learning recommendation engine tailored to user watch history.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